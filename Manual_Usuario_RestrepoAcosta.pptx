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manual de usuario del Sistema Restrepo Acosta. Presentar al operador nuevo antes de comenzar la capacitación.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índice cubre los seis módulos principales del manual. Usar como referencia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de acceso: 18418598. Esta clave es compartida entre ambos socios. Si hay problemas de acceso, contactar al Dr. Restrepo.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página de inicio se carga automáticamente después del login. El dashboard ejecutivo muestra datos en tiempo real de ambos módulos.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proyectos son la unidad base del módulo técnico. Actualmente el sistema maneja Lote 87 y puede agregar más lotes en la sección Proyectos &gt; Nuevo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se actualiza al cargar la página. La ejecución de ítems es el corazón del control de obra — cada ítem cambia de estado con un solo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draws son críticos para el flujo de caja. Cada draw requiere inspección de Trinity Finance antes de que el lender libere los fondos.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los documentos de proveedores actualizados es clave para cumplimiento legal. Los COI (seguros) vencen y deben renovarse.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archivos se almacenan en la nube (Cloudinary). Cada archivo está categorizado por tipo y asociado al proyecto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financiero es la vista más importante del módulo. Se recomienda revisar diariamente la liquidez total y la variación neta.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movimientos son el core del módulo financiero. Toda trazabilidad del dinero pasa por aquí. Las transferencias entre cuentas no afectan el total de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módulo de capital permite ver el equity real de cada socio vs. la deuda del negocio. Mantener estos datos actualizados es crítico para el dashboard ejecutivo.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conciliación bancaria mensual es un proceso crítico. Recomendado: cargar extractos el primer día hábil de cada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reportes son la principal herramienta para presentar información a los socios. El de retorno por proyecto es el más estratégico.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buenas prácticas garantizan la integridad de los datos y facilitan la presentación de información a los socios y lenders.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del manual. Si el operador tiene dudas adicionales, puede consultar el CLAUDE.md en el repositorio del sistema o contactar al Dr. Restrepo directamente.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411480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RESTREPO ACOSTA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HOLDING LLC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Técnica y Financiera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  ·  Junio 2026  ·  Uso interno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164592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del Manual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94360" cy="777240"/>
          </a:xfrm>
          <a:prstGeom prst="roundRect">
            <a:avLst>
              <a:gd name="adj" fmla="val 1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al Sistema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99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clave y navegación inicial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94360" cy="777240"/>
          </a:xfrm>
          <a:prstGeom prst="roundRect">
            <a:avLst>
              <a:gd name="adj" fmla="val 1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Inicio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13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y selector de módulos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594360" cy="777240"/>
          </a:xfrm>
          <a:prstGeom prst="roundRect">
            <a:avLst>
              <a:gd name="adj" fmla="val 1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03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Técnico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Proyectos, fases, presupuesto, draws, proveedores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594360" cy="777240"/>
          </a:xfrm>
          <a:prstGeom prst="roundRect">
            <a:avLst>
              <a:gd name="adj" fmla="val 1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515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Financiero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399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Movimientos, capital, deuda, cuentas, reportes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65960"/>
            <a:ext cx="594360" cy="777240"/>
          </a:xfrm>
          <a:prstGeom prst="roundRect">
            <a:avLst>
              <a:gd name="adj" fmla="val 1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659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Conciliación y Extractos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313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extractos y conciliar movimientos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80360"/>
            <a:ext cx="594360" cy="777240"/>
          </a:xfrm>
          <a:prstGeom prst="roundRect">
            <a:avLst>
              <a:gd name="adj" fmla="val 1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803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del Sistema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seguridad y buenas prácticas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restrepoacosta.onrender.com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Acceso al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restrepoacosta.onrender.com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350008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el navegador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4780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 Safari. Ir a la URL de arriba. El sistema funciona también desde el celular.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447288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Ingresar la clave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5753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única de acceso es: 18418598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clave da acceso a AMBOS módulos.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350008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5896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Seleccionar módulo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58968" y="24780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entre Módulo Técnico (obra) o Módulo Financiero (CFO digital).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447288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sesión al salir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58968" y="35753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botón 'Cerrar sesión' arriba a la derecha para proteger los datos.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Página de Inicio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ingresar, la página principal muestra tres secciones: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2606040"/>
          </a:xfrm>
          <a:prstGeom prst="roundRect">
            <a:avLst>
              <a:gd name="adj" fmla="val 4912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Ejecutivo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 de KPIs clave de ambos módulos: avance de obra, liquidez total, equity aportado y alertas activas. Se actualiza automáticamente.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2606040"/>
          </a:xfrm>
          <a:prstGeom prst="roundRect">
            <a:avLst>
              <a:gd name="adj" fmla="val 4912"/>
            </a:avLst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construcción residencial: proyectos, fases, presupuesto, draws, inspecciones, proveedores y documentos.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51760" cy="2606040"/>
          </a:xfrm>
          <a:prstGeom prst="roundRect">
            <a:avLst>
              <a:gd name="adj" fmla="val 4912"/>
            </a:avLst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Financiero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digital: movimientos, capital de socios, deuda, cuentas bancarias, conciliación y reportes ejecutivos.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79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💾  Backup del sistema: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427939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'Descargar backup' en la parte inferior de la página de inicio. Genera un ZIP con todos los datos + código fuente. Recomendado: descargar mensualmente.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3A6870"/>
          </a:solidFill>
          <a:ln w="12700">
            <a:solidFill>
              <a:srgbClr val="3A68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5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obra residencial · Restrepo Acosta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Proyectos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lote/vivienda es un proyecto independiente en el sistema.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Navegar entre proyectos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74320" cy="27432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 lateral, clic en el nombre del proyecto activo.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274320" cy="27432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la lista de todos los proyectos registrados.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63824"/>
            <a:ext cx="274320" cy="27432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8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proyecto deseado para activarlo.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274320" cy="27432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78561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secciones del módulo técnico cambian al nuevo proyecto activo.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cada proyecto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/ lote: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del proyecto (ej. Lote 87)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03704"/>
            <a:ext cx="365760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exacta de la obra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88336"/>
            <a:ext cx="365760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diseño, En construcción, Terminado, Vendido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172968"/>
            <a:ext cx="365760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374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financiera que financia la obra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365760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participantes y su porcentaje de equity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142232"/>
            <a:ext cx="365760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del loan: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prestado para la construcción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Ejecución de Obra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228600"/>
          </a:xfrm>
          <a:prstGeom prst="rect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del Proyecto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7922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ítems completados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286000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267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 vs. ejecutado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draw: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y fecha del último desembolso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236976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18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activas: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vencidos o ítems urgentes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712464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694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proyecto: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694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fase constructiva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187952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reciente: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41696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cambios registrados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00584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417320"/>
            <a:ext cx="4023360" cy="22860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de Ítems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constructiva tiene ítems de trabajo. Para cada ítem se registra su estado: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35000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350008"/>
            <a:ext cx="164592" cy="457200"/>
          </a:xfrm>
          <a:prstGeom prst="roundRect">
            <a:avLst>
              <a:gd name="adj" fmla="val 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404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iniciado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16936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916936"/>
            <a:ext cx="164592" cy="457200"/>
          </a:xfrm>
          <a:prstGeom prst="roundRect">
            <a:avLst>
              <a:gd name="adj" fmla="val 33333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activo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483864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483864"/>
            <a:ext cx="164592" cy="457200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538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3538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05079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050792"/>
            <a:ext cx="164592" cy="457200"/>
          </a:xfrm>
          <a:prstGeom prst="roundRect">
            <a:avLst>
              <a:gd name="adj" fmla="val 33333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105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4105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463600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cualquier ítem para cambiar su estado o agregar notas.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&amp; Draws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Presupuesto de Obra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 comprometido con contratistas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356616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pagado hasta la fecha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56616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 por pagar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36976"/>
            <a:ext cx="3566160" cy="0"/>
          </a:xfrm>
          <a:prstGeom prst="line">
            <a:avLst/>
          </a:prstGeom>
          <a:noFill/>
          <a:ln w="6350">
            <a:solidFill>
              <a:srgbClr val="D4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Sobre/bajo presupuesto: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vs. presupuesto original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agregar un gasto: sección Presupuesto &gt; botón + Agregar línea. Ingresar descripción, contratista, monto y fase.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 Draws (Desembolsos del Lender)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727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draw es la solicitud formal al banco/lender para liberar fondos según el avance de obra. Se crea en el sistema y se genera el documento para Trinity Finance.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450592"/>
            <a:ext cx="237744" cy="237744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8072" y="24505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sección Draws del proyecto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862072"/>
            <a:ext cx="237744" cy="237744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8072" y="2862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'Nuevo Draw'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73552"/>
            <a:ext cx="237744" cy="237744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73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48072" y="3273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Completar: número de draw, monto solicitado, fecha y descripción de trabajos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685032"/>
            <a:ext cx="237744" cy="237744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85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48072" y="36850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fotos de avance e inspección si aplica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096512"/>
            <a:ext cx="237744" cy="237744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96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48072" y="40965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documento PDF generado para enviar al lender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507992"/>
            <a:ext cx="237744" cy="237744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507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48072" y="4507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monto recibido cuando el banco desembolsa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Inspecciones &amp; Proveedores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Inspecciones de Obra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tracker de inspecciones registra todas las visitas de Trinity Finance (lender inspector) y municipales (county).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Finance / County / Propia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la inspección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/ Failed / Scheduled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Observaciones: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inspector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Fotos: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del estado de la obra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E8C8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15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Las inspecciones fallidas bloquean el siguiente draw.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 / Contratistas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de todos los contratistas y subcontratistas activos en el proyecto.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requeridos por contratista: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53288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(COI)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898648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2962656"/>
            <a:ext cx="219456" cy="219456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9443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recibida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328416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9472" y="3392424"/>
            <a:ext cx="219456" cy="21945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3741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entregada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75818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9472" y="3822192"/>
            <a:ext cx="219456" cy="219456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803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firmado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187952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4251960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42336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activa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Tareas, Alertas &amp; Archivos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233172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64592" cy="16459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13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164592" cy="164592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18104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998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tiene: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 límite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 (abierta / cerrada)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1481328"/>
            <a:ext cx="233172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591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genera alertas automáticas cuando: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0574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03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 seguro (COI) de proveedor está próximo a vencer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2569464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6151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Una inspección quedó pendiente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3081528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1272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 draw fue rechazado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3593592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Tarea urgente sin asignar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4105656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1513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Documento faltante en checklist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100584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1481328"/>
            <a:ext cx="233172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6093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Draw / Inspección Trinity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1929384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HUD-1 / Closing Disclosure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2313432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Carta aprobación préstamo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697480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Survey / Levantamiento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3081528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1455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Planos arquitectónicos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3465576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5295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Permiso de construcción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849624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Fotos de obra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4233672"/>
            <a:ext cx="23317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297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Contratos firmados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1B3640"/>
          </a:solidFill>
          <a:ln w="12700">
            <a:solidFill>
              <a:srgbClr val="1B3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Financiero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Digital · Control total del capital · Trazabilidad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Financiero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ejecutiva con los 5 KPIs más importantes del negocio, actualizados en tiempo real: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53619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536192" cy="347472"/>
          </a:xfrm>
          <a:prstGeom prst="roundRect">
            <a:avLst>
              <a:gd name="adj" fmla="val 26316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1536192" cy="146304"/>
          </a:xfrm>
          <a:prstGeom prst="rect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Total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consolidado de todas las cuentas activas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75688" y="1371600"/>
            <a:ext cx="153619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75688" y="1371600"/>
            <a:ext cx="1536192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5688" y="1572768"/>
            <a:ext cx="1536192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Aportado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total depositado por los socios (Juan David + Oscar)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39896" y="1371600"/>
            <a:ext cx="153619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9896" y="1371600"/>
            <a:ext cx="1536192" cy="347472"/>
          </a:xfrm>
          <a:prstGeom prst="roundRect">
            <a:avLst>
              <a:gd name="adj" fmla="val 26316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1572768"/>
            <a:ext cx="1536192" cy="14630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Viva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3048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pendiente de todos los loans activos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04104" y="1371600"/>
            <a:ext cx="153619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04104" y="1371600"/>
            <a:ext cx="1536192" cy="347472"/>
          </a:xfrm>
          <a:prstGeom prst="roundRect">
            <a:avLst>
              <a:gd name="adj" fmla="val 26316"/>
            </a:avLst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572768"/>
            <a:ext cx="1536192" cy="146304"/>
          </a:xfrm>
          <a:prstGeom prst="rect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Neta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77256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del período menos egresos del período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68312" y="1371600"/>
            <a:ext cx="153619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68312" y="1371600"/>
            <a:ext cx="1536192" cy="347472"/>
          </a:xfrm>
          <a:prstGeom prst="roundRect">
            <a:avLst>
              <a:gd name="adj" fmla="val 26316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68312" y="1572768"/>
            <a:ext cx="1536192" cy="14630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1464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41464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transacciones registradas en el sistema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5603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Gráficos incluidos en el dashboard: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3063240"/>
            <a:ext cx="182880" cy="1828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3044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vs. Deuda: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48840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capital propio vs. deuda en el portafolio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3493008"/>
            <a:ext cx="182880" cy="1828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474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por categoría: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48840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Distribución: proyecto, corporativo, otros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" y="3922776"/>
            <a:ext cx="182880" cy="1828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3904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por cuenta: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48840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detallada con saldo actual de cada banco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" y="4352544"/>
            <a:ext cx="182880" cy="1828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48840" y="4334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ingresos y egresos en el tiempo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5603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de navegación financiero: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 · Resumen ejecutivo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337560"/>
            <a:ext cx="374904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Movimientos · Todos los ingresos y egresos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685032"/>
            <a:ext cx="374904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758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Capital · Aportes de socios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032504"/>
            <a:ext cx="374904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4105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Deuda · Gestión de loans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379976"/>
            <a:ext cx="374904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453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Cuentas · Saldos bancarios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4727448"/>
            <a:ext cx="374904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4800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Extractos · Conciliación bancaria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5074920"/>
            <a:ext cx="374904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5148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Reportes · Cashflow y trazabilidad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Movimientos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movimientos son la unidad básica de toda la contabilidad del sistema: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 Ingreso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que ENTRA al negocio.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venta de propiedad, rendimiento, aporte de socio.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 Egreso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93008" y="1874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que SALE del negocio.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pago a contratista, gasto corporativo, comisión.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  Transferencia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1656" y="1874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entre cuentas internas.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de BOA a Chase, de holding a SPV.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registrar un movimiento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538728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387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2960" y="3538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Movimientos → clic en + Nuevo movimiento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831336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2296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tipo (Ingreso / Egreso / Transferencia)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123944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23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2960" y="4123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Completar: fecha, cuenta, monto, categoría, proyecto, descripción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416552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16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22960" y="44165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Guardar. El saldo de la cuenta se actualiza automáticamente.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conciliación bancaria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538728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844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3584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está en el extracto bancario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950208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9959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extracto ⚠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39959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manual sin respaldo bancario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4361688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4074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4407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ha cargado el extracto del período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de Socios &amp; Deuda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Aportado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todos los aportes de dinero de los socios al holding. Se separan en: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231136"/>
            <a:ext cx="256032" cy="256032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Bancarizado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4323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bancarios verificables con extracto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871216"/>
            <a:ext cx="256032" cy="25603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No-bancarizado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3072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en efectivo o activos sin transferencia bancaria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genera automáticamente: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Gráfico acumulado por socio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Línea de tiempo de aportes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Porcentaje de equity de cada socio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agregar: Capital → + Agregar aporte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Deuda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préstamo activo (construction loans, LOC, etc.):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1214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prestamista (ej. Trinity, BOA)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del préstamo aprobado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816352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99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interés: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anual pactado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255264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38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pendiente: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 por pagar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694176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877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al que está vinculado el loan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251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registrar cada pago de capital + intereses como Egreso vinculado al loan.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Bancarias &amp; Extractos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Bancarias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mantiene el saldo de cada cuenta bancaria actualizándolo automáticamente con cada movimiento registrado.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/ banco: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BOA Checking, Chase Construction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651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o institución financiera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90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3090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/ Savings / LOC / Escrow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actual: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35295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automáticamente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361188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68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39684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por defecto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completo de una cuenta: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→ clic en la cuenta → ver todos sus movimientos.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Extractos Bancarios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72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extractos son los archivos PDF descargados del banco. Se cargan al sistema para conciliar (verificar) que cada movimiento registrado manualmente coincide con el banco.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350008"/>
            <a:ext cx="219456" cy="219456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0" y="2350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PDF del extracto mensual del banco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697480"/>
            <a:ext cx="219456" cy="219456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Extractos → + Cargar extracto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044952"/>
            <a:ext cx="219456" cy="219456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044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cuenta correspondiente y el período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392424"/>
            <a:ext cx="219456" cy="219456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392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0" y="3392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archivo PDF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739896"/>
            <a:ext cx="219456" cy="219456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739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20640" y="3739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lee las líneas del extracto automáticamente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408736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20640" y="40873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marca cada movimiento como 'Coincide' o 'Sin extracto'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4434840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434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4434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las discrepancias y corregir si hay errores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Reportes, Cashflow &amp; Importar Datos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Disponibles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72768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73352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caja: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636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egresos mes a mes con línea de tendencia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048256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148840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por socio: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aportado acumulado de Juan David y Oscar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523744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624328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por proyecto: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utilidad bruta y margen por lote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999232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099816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liquidez: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proyectado en base a compromisos futuros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47472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575304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cashflow: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 de movimientos del período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3950208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8F5F0"/>
          </a:solidFill>
          <a:ln w="12700">
            <a:solidFill>
              <a:srgbClr val="D0DF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050792"/>
            <a:ext cx="182880" cy="182880"/>
          </a:xfrm>
          <a:prstGeom prst="ellipse">
            <a:avLst/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014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de cada peso con soporte documental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Importar desde Excel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572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acepta el archivo 'DOC FINANCIERO 2025-2026.xlsx' para importar datos históricos de movimientos masivamente.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560320"/>
            <a:ext cx="201168" cy="201168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02352" y="25420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Financiero → Importar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907792"/>
            <a:ext cx="201168" cy="201168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907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02352" y="2889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archivo Excel del sistema anterior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255264"/>
            <a:ext cx="201168" cy="201168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02352" y="32369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lee las hojas: movimientos, capital, deuda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602736"/>
            <a:ext cx="201168" cy="201168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02352" y="3584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preview de datos antes de proceder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950208"/>
            <a:ext cx="201168" cy="201168"/>
          </a:xfrm>
          <a:prstGeom prst="ellipse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02352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cuentas y categorías, luego confirmar importación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20624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F5E8C8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261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la importacion no duplica registros si ya existen.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del Sistema &amp; Buenas Prácticas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2377440"/>
          </a:xfrm>
          <a:prstGeom prst="roundRect">
            <a:avLst>
              <a:gd name="adj" fmla="val 5385"/>
            </a:avLst>
          </a:prstGeom>
          <a:solidFill>
            <a:srgbClr val="2D4B52"/>
          </a:solidFill>
          <a:ln w="12700">
            <a:solidFill>
              <a:srgbClr val="2D4B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del Sistema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→ botón 'Descargar backup'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ZIP incluye: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de datos completa (ambos módulos)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Excel técnico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Excel financiero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C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fuente del sistema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 recomendada: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Mensual: primer día hábil del mes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Antes de cualquier actualización masiva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Después de cerrar un proyecto importante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Buenas Prácticas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481328"/>
            <a:ext cx="3611880" cy="228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4592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618488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movimientos el mismo día que ocurren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911096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04825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020824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Conciliar extractos bancarios cada 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313432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45059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423160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documentos de proveedores actualizados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715768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85292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825496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estado de ítems de obra semanalmente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118104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255264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227832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fotos de avance antes de cada draw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520440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65760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630168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 al terminar de usar el sistema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922776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05993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4032504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backup mensualmente y guardar en la nube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4325112"/>
            <a:ext cx="3703320" cy="0"/>
          </a:xfrm>
          <a:prstGeom prst="line">
            <a:avLst/>
          </a:prstGeom>
          <a:noFill/>
          <a:ln w="5080">
            <a:solidFill>
              <a:srgbClr val="D4E8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44622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4434840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compartir la clave con personas no autorizadas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3A5F68"/>
          </a:solidFill>
          <a:ln w="12700">
            <a:solidFill>
              <a:srgbClr val="3A5F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2025"/>
          </a:solidFill>
          <a:ln w="12700">
            <a:solidFill>
              <a:srgbClr val="1520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E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RÁPIDA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384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restrepoacosta.onrender.com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384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18418598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94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694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/ Financiero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694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694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inicio → Descargar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listo para operar.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dudas, contactar directamente al Dr. Restrepo.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Restrepo Acosta Global Holding LLC  ·  Manual de Usuario v1.0  · 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Usuario — Sistema Restrepo Acosta</dc:title>
  <dc:subject>PptxGenJS Presentation</dc:subject>
  <dc:creator>Restrepo Acosta Global Holding LLC</dc:creator>
  <cp:lastModifiedBy>Restrepo Acosta Global Holding LLC</cp:lastModifiedBy>
  <cp:revision>1</cp:revision>
  <dcterms:created xsi:type="dcterms:W3CDTF">2026-06-26T00:59:23Z</dcterms:created>
  <dcterms:modified xsi:type="dcterms:W3CDTF">2026-06-26T00:59:23Z</dcterms:modified>
</cp:coreProperties>
</file>